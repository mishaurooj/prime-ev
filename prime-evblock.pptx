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ur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ADE4"/>
    <a:srgbClr val="FA9EB4"/>
    <a:srgbClr val="0000CC"/>
    <a:srgbClr val="9D1396"/>
    <a:srgbClr val="0F9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ur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76CAE72-A22A-44AB-8E65-57FAB2DF28D6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r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ur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4ABC1973-4F79-40F5-804D-D5AB84C7A9D2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5819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r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BC1973-4F79-40F5-804D-D5AB84C7A9D2}" type="slidenum">
              <a:rPr lang="ur-PK" smtClean="0"/>
              <a:t>1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96155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ur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52302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398883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42372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157186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56613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13170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6279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235665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r-P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440507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186425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226408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ur-P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r-P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23CA9-93D2-400B-A864-CD1E940C5E6F}" type="datetimeFigureOut">
              <a:rPr lang="ur-PK" smtClean="0"/>
              <a:t>22/07/1447</a:t>
            </a:fld>
            <a:endParaRPr lang="ur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r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9AF7F-E5E5-408B-8A80-64351B1A5B1D}" type="slidenum">
              <a:rPr lang="ur-PK" smtClean="0"/>
              <a:t>‹#›</a:t>
            </a:fld>
            <a:endParaRPr lang="ur-PK"/>
          </a:p>
        </p:txBody>
      </p:sp>
    </p:spTree>
    <p:extLst>
      <p:ext uri="{BB962C8B-B14F-4D97-AF65-F5344CB8AC3E}">
        <p14:creationId xmlns:p14="http://schemas.microsoft.com/office/powerpoint/2010/main" val="30877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r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ounded Rectangle 176"/>
          <p:cNvSpPr/>
          <p:nvPr/>
        </p:nvSpPr>
        <p:spPr>
          <a:xfrm>
            <a:off x="-5320703" y="-301684"/>
            <a:ext cx="24427314" cy="733213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-5049062" y="841944"/>
            <a:ext cx="3223491" cy="313112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Input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For each charging station: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Age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Usage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Maintenance frequency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Cost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Capacity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Reviews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Distance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Encoded categorical attributes</a:t>
            </a:r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Cube 4"/>
          <p:cNvSpPr/>
          <p:nvPr/>
        </p:nvSpPr>
        <p:spPr>
          <a:xfrm>
            <a:off x="-590204" y="1022926"/>
            <a:ext cx="1662545" cy="628073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Convolution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Cube 5"/>
          <p:cNvSpPr/>
          <p:nvPr/>
        </p:nvSpPr>
        <p:spPr>
          <a:xfrm>
            <a:off x="-590205" y="1801089"/>
            <a:ext cx="1662545" cy="628073"/>
          </a:xfrm>
          <a:prstGeom prst="cub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Convolution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Cube 6"/>
          <p:cNvSpPr/>
          <p:nvPr/>
        </p:nvSpPr>
        <p:spPr>
          <a:xfrm>
            <a:off x="-590206" y="2523836"/>
            <a:ext cx="1662545" cy="628073"/>
          </a:xfrm>
          <a:prstGeom prst="cub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Attention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Cube 7"/>
          <p:cNvSpPr/>
          <p:nvPr/>
        </p:nvSpPr>
        <p:spPr>
          <a:xfrm>
            <a:off x="-590207" y="3281217"/>
            <a:ext cx="1662545" cy="628073"/>
          </a:xfrm>
          <a:prstGeom prst="cub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Softmax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-710281" y="4243156"/>
            <a:ext cx="1745673" cy="1607127"/>
          </a:xfrm>
          <a:prstGeom prst="ellipse">
            <a:avLst/>
          </a:prstGeom>
          <a:solidFill>
            <a:srgbClr val="80AD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Bahnschrift" panose="020B0502040204020203" pitchFamily="34" charset="0"/>
              </a:rPr>
              <a:t>L</a:t>
            </a: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atent infra-structure state vector</a:t>
            </a:r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-996604" y="893618"/>
            <a:ext cx="2507674" cy="31311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2" name="Straight Arrow Connector 11"/>
          <p:cNvCxnSpPr>
            <a:stCxn id="5" idx="3"/>
            <a:endCxn id="6" idx="1"/>
          </p:cNvCxnSpPr>
          <p:nvPr/>
        </p:nvCxnSpPr>
        <p:spPr>
          <a:xfrm flipH="1">
            <a:off x="162558" y="1650999"/>
            <a:ext cx="1" cy="3071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3"/>
            <a:endCxn id="7" idx="1"/>
          </p:cNvCxnSpPr>
          <p:nvPr/>
        </p:nvCxnSpPr>
        <p:spPr>
          <a:xfrm flipH="1">
            <a:off x="162557" y="2429162"/>
            <a:ext cx="1" cy="25169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3"/>
            <a:endCxn id="8" idx="1"/>
          </p:cNvCxnSpPr>
          <p:nvPr/>
        </p:nvCxnSpPr>
        <p:spPr>
          <a:xfrm flipH="1">
            <a:off x="162556" y="3151909"/>
            <a:ext cx="1" cy="2863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3"/>
            <a:endCxn id="9" idx="0"/>
          </p:cNvCxnSpPr>
          <p:nvPr/>
        </p:nvCxnSpPr>
        <p:spPr>
          <a:xfrm>
            <a:off x="162556" y="3909290"/>
            <a:ext cx="0" cy="33386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-5139494" y="570233"/>
            <a:ext cx="6787300" cy="5327186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-4305607" y="152757"/>
            <a:ext cx="5323114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Bahnschrift" panose="020B0502040204020203" pitchFamily="34" charset="0"/>
              </a:rPr>
              <a:t>(i) LISE — Latent Infrastructure State Encoder</a:t>
            </a:r>
            <a:endParaRPr lang="ur-PK" b="1" dirty="0">
              <a:latin typeface="Bahnschrift" panose="020B0502040204020203" pitchFamily="34" charset="0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-1754712" y="1459795"/>
            <a:ext cx="678994" cy="46191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>
              <a:latin typeface="Bahnschrift" panose="020B0502040204020203" pitchFamily="34" charset="0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-1754712" y="2061923"/>
            <a:ext cx="678994" cy="46191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>
              <a:latin typeface="Bahnschrift" panose="020B0502040204020203" pitchFamily="34" charset="0"/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-1754712" y="2612099"/>
            <a:ext cx="678994" cy="46191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>
              <a:latin typeface="Bahnschrift" panose="020B0502040204020203" pitchFamily="34" charset="0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-1764139" y="3150945"/>
            <a:ext cx="678994" cy="46191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ur-PK">
              <a:latin typeface="Bahnschrift" panose="020B0502040204020203" pitchFamily="34" charset="0"/>
            </a:endParaRPr>
          </a:p>
        </p:txBody>
      </p:sp>
      <p:sp>
        <p:nvSpPr>
          <p:cNvPr id="36" name="Cube 35"/>
          <p:cNvSpPr/>
          <p:nvPr/>
        </p:nvSpPr>
        <p:spPr>
          <a:xfrm>
            <a:off x="3137167" y="841944"/>
            <a:ext cx="1662545" cy="628073"/>
          </a:xfrm>
          <a:prstGeom prst="cub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Dense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7" name="Cube 36"/>
          <p:cNvSpPr/>
          <p:nvPr/>
        </p:nvSpPr>
        <p:spPr>
          <a:xfrm>
            <a:off x="3137166" y="1655948"/>
            <a:ext cx="1662545" cy="628073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RELU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8" name="Cube 37"/>
          <p:cNvSpPr/>
          <p:nvPr/>
        </p:nvSpPr>
        <p:spPr>
          <a:xfrm>
            <a:off x="3137165" y="2477735"/>
            <a:ext cx="1662545" cy="628073"/>
          </a:xfrm>
          <a:prstGeom prst="cub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Dense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3108883" y="3506458"/>
            <a:ext cx="1745673" cy="160712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Mean degradation risk</a:t>
            </a:r>
          </a:p>
          <a:p>
            <a:pPr algn="ctr"/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2991190" y="640504"/>
            <a:ext cx="1978606" cy="456030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5" name="Cube 44"/>
          <p:cNvSpPr/>
          <p:nvPr/>
        </p:nvSpPr>
        <p:spPr>
          <a:xfrm>
            <a:off x="5360690" y="2282098"/>
            <a:ext cx="1662545" cy="868562"/>
          </a:xfrm>
          <a:prstGeom prst="cub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Bahnschrift" panose="020B0502040204020203" pitchFamily="34" charset="0"/>
              </a:rPr>
              <a:t>exp</a:t>
            </a:r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 (0.5 * Dense)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5348634" y="3490760"/>
            <a:ext cx="1745673" cy="160712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Uncertainty</a:t>
            </a:r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202660" y="609566"/>
            <a:ext cx="1978606" cy="456030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8" name="Cube 47"/>
          <p:cNvSpPr/>
          <p:nvPr/>
        </p:nvSpPr>
        <p:spPr>
          <a:xfrm>
            <a:off x="5348634" y="1379416"/>
            <a:ext cx="1662545" cy="628073"/>
          </a:xfrm>
          <a:prstGeom prst="cub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Dense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50" name="Elbow Connector 49"/>
          <p:cNvCxnSpPr>
            <a:stCxn id="9" idx="6"/>
            <a:endCxn id="36" idx="2"/>
          </p:cNvCxnSpPr>
          <p:nvPr/>
        </p:nvCxnSpPr>
        <p:spPr>
          <a:xfrm flipV="1">
            <a:off x="1035392" y="1234490"/>
            <a:ext cx="2101775" cy="3812230"/>
          </a:xfrm>
          <a:prstGeom prst="bentConnector3">
            <a:avLst>
              <a:gd name="adj1" fmla="val 50000"/>
            </a:avLst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6" idx="3"/>
            <a:endCxn id="37" idx="1"/>
          </p:cNvCxnSpPr>
          <p:nvPr/>
        </p:nvCxnSpPr>
        <p:spPr>
          <a:xfrm flipH="1">
            <a:off x="3889929" y="1470017"/>
            <a:ext cx="1" cy="34294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37" idx="3"/>
            <a:endCxn id="38" idx="1"/>
          </p:cNvCxnSpPr>
          <p:nvPr/>
        </p:nvCxnSpPr>
        <p:spPr>
          <a:xfrm flipH="1">
            <a:off x="3889928" y="2284021"/>
            <a:ext cx="1" cy="3507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901071" y="3126190"/>
            <a:ext cx="2952" cy="36142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Elbow Connector 64"/>
          <p:cNvCxnSpPr>
            <a:endCxn id="48" idx="0"/>
          </p:cNvCxnSpPr>
          <p:nvPr/>
        </p:nvCxnSpPr>
        <p:spPr>
          <a:xfrm>
            <a:off x="2119230" y="458434"/>
            <a:ext cx="4139186" cy="920982"/>
          </a:xfrm>
          <a:prstGeom prst="bentConnector2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>
            <a:off x="2082185" y="482198"/>
            <a:ext cx="20123" cy="1014550"/>
          </a:xfrm>
          <a:prstGeom prst="line">
            <a:avLst/>
          </a:prstGeom>
          <a:ln w="571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6221470" y="3143795"/>
            <a:ext cx="2952" cy="36142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6175222" y="1996826"/>
            <a:ext cx="2952" cy="36142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1945171" y="527397"/>
            <a:ext cx="5905471" cy="5515034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9" name="Cube 78"/>
          <p:cNvSpPr/>
          <p:nvPr/>
        </p:nvSpPr>
        <p:spPr>
          <a:xfrm>
            <a:off x="11335352" y="1369340"/>
            <a:ext cx="1662545" cy="628073"/>
          </a:xfrm>
          <a:prstGeom prst="cub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Dense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80" name="Cube 79"/>
          <p:cNvSpPr/>
          <p:nvPr/>
        </p:nvSpPr>
        <p:spPr>
          <a:xfrm>
            <a:off x="11335351" y="2183344"/>
            <a:ext cx="1662545" cy="628073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RELU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81" name="Cube 80"/>
          <p:cNvSpPr/>
          <p:nvPr/>
        </p:nvSpPr>
        <p:spPr>
          <a:xfrm>
            <a:off x="11335350" y="3005131"/>
            <a:ext cx="1662545" cy="628073"/>
          </a:xfrm>
          <a:prstGeom prst="cub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Dense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11307068" y="4033854"/>
            <a:ext cx="1745673" cy="160712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Placement priority score</a:t>
            </a:r>
          </a:p>
          <a:p>
            <a:pPr algn="ctr"/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8306430" y="527396"/>
            <a:ext cx="5105890" cy="5246528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84" name="Straight Arrow Connector 83"/>
          <p:cNvCxnSpPr>
            <a:stCxn id="79" idx="3"/>
            <a:endCxn id="80" idx="1"/>
          </p:cNvCxnSpPr>
          <p:nvPr/>
        </p:nvCxnSpPr>
        <p:spPr>
          <a:xfrm flipH="1">
            <a:off x="12088114" y="1997413"/>
            <a:ext cx="1" cy="34294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0" idx="3"/>
            <a:endCxn id="81" idx="1"/>
          </p:cNvCxnSpPr>
          <p:nvPr/>
        </p:nvCxnSpPr>
        <p:spPr>
          <a:xfrm flipH="1">
            <a:off x="12088113" y="2811417"/>
            <a:ext cx="1" cy="3507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06"/>
          <p:cNvCxnSpPr>
            <a:stCxn id="40" idx="4"/>
            <a:endCxn id="87" idx="2"/>
          </p:cNvCxnSpPr>
          <p:nvPr/>
        </p:nvCxnSpPr>
        <p:spPr>
          <a:xfrm rot="5400000" flipH="1" flipV="1">
            <a:off x="5948637" y="1241333"/>
            <a:ext cx="1905335" cy="5839170"/>
          </a:xfrm>
          <a:prstGeom prst="bentConnector3">
            <a:avLst>
              <a:gd name="adj1" fmla="val -11998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12099256" y="3653586"/>
            <a:ext cx="2952" cy="36142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451730" y="1943566"/>
            <a:ext cx="2738319" cy="126468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Input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For each charging station: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Usage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Distance</a:t>
            </a:r>
          </a:p>
        </p:txBody>
      </p:sp>
      <p:cxnSp>
        <p:nvCxnSpPr>
          <p:cNvPr id="89" name="Elbow Connector 88"/>
          <p:cNvCxnSpPr>
            <a:endCxn id="87" idx="1"/>
          </p:cNvCxnSpPr>
          <p:nvPr/>
        </p:nvCxnSpPr>
        <p:spPr>
          <a:xfrm flipV="1">
            <a:off x="203376" y="2575908"/>
            <a:ext cx="8248354" cy="3692281"/>
          </a:xfrm>
          <a:prstGeom prst="bentConnector3">
            <a:avLst>
              <a:gd name="adj1" fmla="val 87692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200022" y="5854027"/>
            <a:ext cx="15698" cy="391189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850543" y="5874061"/>
            <a:ext cx="1468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Concatenate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8529426" y="-50305"/>
            <a:ext cx="4686415" cy="4086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latin typeface="Bahnschrift" panose="020B0502040204020203" pitchFamily="34" charset="0"/>
              </a:rPr>
              <a:t>(iii) PPN — Placement Policy Network</a:t>
            </a:r>
            <a:endParaRPr lang="ur-PK" b="1" dirty="0">
              <a:latin typeface="Bahnschrift" panose="020B0502040204020203" pitchFamily="34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-2130554" y="1152018"/>
            <a:ext cx="13388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Bahnschrift" panose="020B0502040204020203" pitchFamily="34" charset="0"/>
              </a:rPr>
              <a:t>X ∈ ℝ^{N×T×F}</a:t>
            </a:r>
            <a:endParaRPr lang="ur-PK" sz="1400" dirty="0">
              <a:latin typeface="Bahnschrift" panose="020B0502040204020203" pitchFamily="34" charset="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584291" y="4125822"/>
            <a:ext cx="11977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Bahnschrift" panose="020B0502040204020203" pitchFamily="34" charset="0"/>
              </a:rPr>
              <a:t>z ∈ ℝ^{N×16}</a:t>
            </a:r>
            <a:endParaRPr lang="ur-PK" sz="1400" dirty="0">
              <a:latin typeface="Bahnschrift" panose="020B0502040204020203" pitchFamily="34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5767325" y="4469671"/>
            <a:ext cx="11256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4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σ ∈ ℝ^{</a:t>
            </a:r>
            <a:r>
              <a:rPr lang="en-US" sz="14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N×1}</a:t>
            </a:r>
            <a:endParaRPr lang="ur-PK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3459129" y="4602059"/>
            <a:ext cx="11256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4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μ ∈ ℝ^{</a:t>
            </a:r>
            <a:r>
              <a:rPr lang="en-US" sz="14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N×1}</a:t>
            </a:r>
            <a:endParaRPr lang="ur-PK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11646254" y="5081031"/>
            <a:ext cx="10695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Bahnschrift" panose="020B0502040204020203" pitchFamily="34" charset="0"/>
              </a:rPr>
              <a:t>p ∈ ℝ^{N × 1}</a:t>
            </a:r>
            <a:endParaRPr lang="ur-PK" sz="1200" dirty="0">
              <a:latin typeface="Bahnschrift" panose="020B0502040204020203" pitchFamily="34" charset="0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8561836" y="1326843"/>
            <a:ext cx="27190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Bahnschrift" panose="020B0502040204020203" pitchFamily="34" charset="0"/>
              </a:rPr>
              <a:t>[ z , </a:t>
            </a:r>
            <a:r>
              <a:rPr lang="el-GR" dirty="0" smtClean="0">
                <a:latin typeface="Bahnschrift" panose="020B0502040204020203" pitchFamily="34" charset="0"/>
              </a:rPr>
              <a:t>μ , </a:t>
            </a:r>
            <a:r>
              <a:rPr lang="en-US" dirty="0" smtClean="0">
                <a:latin typeface="Bahnschrift" panose="020B0502040204020203" pitchFamily="34" charset="0"/>
              </a:rPr>
              <a:t>distance , usage ]</a:t>
            </a:r>
            <a:endParaRPr lang="ur-PK" dirty="0">
              <a:latin typeface="Bahnschrift" panose="020B0502040204020203" pitchFamily="34" charset="0"/>
            </a:endParaRPr>
          </a:p>
        </p:txBody>
      </p:sp>
      <p:cxnSp>
        <p:nvCxnSpPr>
          <p:cNvPr id="123" name="Elbow Connector 122"/>
          <p:cNvCxnSpPr>
            <a:stCxn id="87" idx="0"/>
            <a:endCxn id="79" idx="2"/>
          </p:cNvCxnSpPr>
          <p:nvPr/>
        </p:nvCxnSpPr>
        <p:spPr>
          <a:xfrm rot="5400000" flipH="1" flipV="1">
            <a:off x="10487281" y="1095495"/>
            <a:ext cx="181680" cy="1514462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ube 138"/>
          <p:cNvSpPr/>
          <p:nvPr/>
        </p:nvSpPr>
        <p:spPr>
          <a:xfrm>
            <a:off x="16642764" y="1412177"/>
            <a:ext cx="1662545" cy="628073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Linear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40" name="Cube 139"/>
          <p:cNvSpPr/>
          <p:nvPr/>
        </p:nvSpPr>
        <p:spPr>
          <a:xfrm>
            <a:off x="16642763" y="2226181"/>
            <a:ext cx="1662545" cy="628073"/>
          </a:xfrm>
          <a:prstGeom prst="cub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RELU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41" name="Cube 140"/>
          <p:cNvSpPr/>
          <p:nvPr/>
        </p:nvSpPr>
        <p:spPr>
          <a:xfrm>
            <a:off x="16642762" y="3047968"/>
            <a:ext cx="1662545" cy="628073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Linear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16614480" y="4076691"/>
            <a:ext cx="1745673" cy="1607127"/>
          </a:xfrm>
          <a:prstGeom prst="ellipse">
            <a:avLst/>
          </a:prstGeom>
          <a:solidFill>
            <a:srgbClr val="FA9EB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Utility score</a:t>
            </a:r>
          </a:p>
          <a:p>
            <a:pPr algn="ctr"/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13613842" y="570233"/>
            <a:ext cx="5105890" cy="5246528"/>
          </a:xfrm>
          <a:prstGeom prst="round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endParaRPr lang="ur-PK" sz="16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44" name="Straight Arrow Connector 143"/>
          <p:cNvCxnSpPr>
            <a:stCxn id="139" idx="3"/>
            <a:endCxn id="140" idx="1"/>
          </p:cNvCxnSpPr>
          <p:nvPr/>
        </p:nvCxnSpPr>
        <p:spPr>
          <a:xfrm flipH="1">
            <a:off x="17395526" y="2040250"/>
            <a:ext cx="1" cy="34294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stCxn id="140" idx="3"/>
            <a:endCxn id="141" idx="1"/>
          </p:cNvCxnSpPr>
          <p:nvPr/>
        </p:nvCxnSpPr>
        <p:spPr>
          <a:xfrm flipH="1">
            <a:off x="17395525" y="2854254"/>
            <a:ext cx="1" cy="3507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>
            <a:off x="17406668" y="3696423"/>
            <a:ext cx="2952" cy="36142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13759142" y="1986403"/>
            <a:ext cx="2738319" cy="126468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Input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For each charging station: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Cost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1600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Distance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7180982" y="5046719"/>
            <a:ext cx="6126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Bahnschrift" panose="020B0502040204020203" pitchFamily="34" charset="0"/>
              </a:rPr>
              <a:t>(</a:t>
            </a:r>
            <a:r>
              <a:rPr lang="en-US" sz="1200" dirty="0" smtClean="0">
                <a:latin typeface="Bahnschrift" panose="020B0502040204020203" pitchFamily="34" charset="0"/>
              </a:rPr>
              <a:t>N × 1}</a:t>
            </a:r>
            <a:endParaRPr lang="ur-PK" sz="1200" dirty="0">
              <a:latin typeface="Bahnschrift" panose="020B0502040204020203" pitchFamily="34" charset="0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14810439" y="1341565"/>
            <a:ext cx="1731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Bahnschrift" panose="020B0502040204020203" pitchFamily="34" charset="0"/>
              </a:rPr>
              <a:t>[z, </a:t>
            </a:r>
            <a:r>
              <a:rPr lang="el-GR" dirty="0" smtClean="0">
                <a:latin typeface="Bahnschrift" panose="020B0502040204020203" pitchFamily="34" charset="0"/>
              </a:rPr>
              <a:t>μ, </a:t>
            </a:r>
            <a:r>
              <a:rPr lang="en-US" dirty="0" smtClean="0">
                <a:latin typeface="Bahnschrift" panose="020B0502040204020203" pitchFamily="34" charset="0"/>
              </a:rPr>
              <a:t>cost, </a:t>
            </a:r>
            <a:r>
              <a:rPr lang="en-US" dirty="0" err="1" smtClean="0">
                <a:latin typeface="Bahnschrift" panose="020B0502040204020203" pitchFamily="34" charset="0"/>
              </a:rPr>
              <a:t>dist</a:t>
            </a:r>
            <a:r>
              <a:rPr lang="en-US" dirty="0" smtClean="0">
                <a:latin typeface="Bahnschrift" panose="020B0502040204020203" pitchFamily="34" charset="0"/>
              </a:rPr>
              <a:t>]</a:t>
            </a:r>
            <a:endParaRPr lang="ur-PK" dirty="0">
              <a:latin typeface="Bahnschrift" panose="020B0502040204020203" pitchFamily="34" charset="0"/>
            </a:endParaRPr>
          </a:p>
        </p:txBody>
      </p:sp>
      <p:cxnSp>
        <p:nvCxnSpPr>
          <p:cNvPr id="161" name="Elbow Connector 160"/>
          <p:cNvCxnSpPr>
            <a:stCxn id="9" idx="3"/>
            <a:endCxn id="147" idx="2"/>
          </p:cNvCxnSpPr>
          <p:nvPr/>
        </p:nvCxnSpPr>
        <p:spPr>
          <a:xfrm rot="5400000" flipH="1" flipV="1">
            <a:off x="6154915" y="-3358462"/>
            <a:ext cx="2363838" cy="15582935"/>
          </a:xfrm>
          <a:prstGeom prst="bentConnector3">
            <a:avLst>
              <a:gd name="adj1" fmla="val -34977"/>
            </a:avLst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lbow Connector 150"/>
          <p:cNvCxnSpPr>
            <a:stCxn id="147" idx="0"/>
            <a:endCxn id="139" idx="2"/>
          </p:cNvCxnSpPr>
          <p:nvPr/>
        </p:nvCxnSpPr>
        <p:spPr>
          <a:xfrm rot="5400000" flipH="1" flipV="1">
            <a:off x="15794693" y="1138332"/>
            <a:ext cx="181680" cy="1514462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5700753" y="755468"/>
            <a:ext cx="11977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Bahnschrift" panose="020B0502040204020203" pitchFamily="34" charset="0"/>
              </a:rPr>
              <a:t>z ∈ ℝ^{N×16}</a:t>
            </a:r>
            <a:endParaRPr lang="ur-PK" sz="1400" dirty="0">
              <a:latin typeface="Bahnschrift" panose="020B0502040204020203" pitchFamily="34" charset="0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2119230" y="1350358"/>
            <a:ext cx="11977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Bahnschrift" panose="020B0502040204020203" pitchFamily="34" charset="0"/>
              </a:rPr>
              <a:t>z ∈ ℝ^{N×16}</a:t>
            </a:r>
            <a:endParaRPr lang="ur-PK" sz="1400" dirty="0">
              <a:latin typeface="Bahnschrift" panose="020B0502040204020203" pitchFamily="34" charset="0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11909781" y="6460490"/>
            <a:ext cx="1468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Concatenate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64" name="Elbow Connector 163"/>
          <p:cNvCxnSpPr>
            <a:stCxn id="40" idx="3"/>
            <a:endCxn id="147" idx="1"/>
          </p:cNvCxnSpPr>
          <p:nvPr/>
        </p:nvCxnSpPr>
        <p:spPr>
          <a:xfrm rot="5400000" flipH="1" flipV="1">
            <a:off x="7432095" y="-1448820"/>
            <a:ext cx="2259482" cy="10394611"/>
          </a:xfrm>
          <a:prstGeom prst="bentConnector4">
            <a:avLst>
              <a:gd name="adj1" fmla="val -84205"/>
              <a:gd name="adj2" fmla="val 97800"/>
            </a:avLst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7382788" y="2244699"/>
            <a:ext cx="10567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Bahnschrift" panose="020B0502040204020203" pitchFamily="34" charset="0"/>
              </a:rPr>
              <a:t>z ∈ ℝ^{N×16}</a:t>
            </a:r>
            <a:endParaRPr lang="ur-PK" sz="1200" dirty="0">
              <a:latin typeface="Bahnschrift" panose="020B0502040204020203" pitchFamily="34" charset="0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8823433" y="3347495"/>
            <a:ext cx="9941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200" dirty="0" smtClean="0">
                <a:latin typeface="Bahnschrift" panose="020B0502040204020203" pitchFamily="34" charset="0"/>
              </a:rPr>
              <a:t>μ ∈ ℝ^{</a:t>
            </a:r>
            <a:r>
              <a:rPr lang="en-US" sz="1200" dirty="0" smtClean="0">
                <a:latin typeface="Bahnschrift" panose="020B0502040204020203" pitchFamily="34" charset="0"/>
              </a:rPr>
              <a:t>N×1}</a:t>
            </a:r>
            <a:endParaRPr lang="ur-PK" sz="1200" dirty="0">
              <a:latin typeface="Bahnschrift" panose="020B0502040204020203" pitchFamily="34" charset="0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13612846" y="-14667"/>
            <a:ext cx="4818129" cy="4086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b="1" dirty="0" smtClean="0">
                <a:latin typeface="Bahnschrift" panose="020B0502040204020203" pitchFamily="34" charset="0"/>
              </a:rPr>
              <a:t>(iv) RUN — </a:t>
            </a:r>
            <a:r>
              <a:rPr lang="fr-FR" b="1" dirty="0" err="1" smtClean="0">
                <a:latin typeface="Bahnschrift" panose="020B0502040204020203" pitchFamily="34" charset="0"/>
              </a:rPr>
              <a:t>Recommendation</a:t>
            </a:r>
            <a:r>
              <a:rPr lang="fr-FR" b="1" dirty="0" smtClean="0">
                <a:latin typeface="Bahnschrift" panose="020B0502040204020203" pitchFamily="34" charset="0"/>
              </a:rPr>
              <a:t> Utility Network</a:t>
            </a:r>
            <a:endParaRPr lang="ur-PK" b="1" dirty="0">
              <a:latin typeface="Bahnschrift" panose="020B0502040204020203" pitchFamily="34" charset="0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1647806" y="-101061"/>
            <a:ext cx="6047043" cy="4086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fr-FR" b="1" dirty="0" smtClean="0">
                <a:latin typeface="Bahnschrift" panose="020B0502040204020203" pitchFamily="34" charset="0"/>
              </a:rPr>
              <a:t>(ii) PDDM — </a:t>
            </a:r>
            <a:r>
              <a:rPr lang="fr-FR" b="1" dirty="0" err="1" smtClean="0">
                <a:latin typeface="Bahnschrift" panose="020B0502040204020203" pitchFamily="34" charset="0"/>
              </a:rPr>
              <a:t>Probabilistic</a:t>
            </a:r>
            <a:r>
              <a:rPr lang="fr-FR" b="1" dirty="0" smtClean="0">
                <a:latin typeface="Bahnschrift" panose="020B0502040204020203" pitchFamily="34" charset="0"/>
              </a:rPr>
              <a:t> </a:t>
            </a:r>
            <a:r>
              <a:rPr lang="fr-FR" b="1" dirty="0" err="1" smtClean="0">
                <a:latin typeface="Bahnschrift" panose="020B0502040204020203" pitchFamily="34" charset="0"/>
              </a:rPr>
              <a:t>Degradation</a:t>
            </a:r>
            <a:r>
              <a:rPr lang="fr-FR" b="1" dirty="0">
                <a:latin typeface="Bahnschrift" panose="020B0502040204020203" pitchFamily="34" charset="0"/>
              </a:rPr>
              <a:t> </a:t>
            </a:r>
            <a:r>
              <a:rPr lang="fr-FR" b="1" dirty="0" smtClean="0">
                <a:latin typeface="Bahnschrift" panose="020B0502040204020203" pitchFamily="34" charset="0"/>
              </a:rPr>
              <a:t>Dynamics Model</a:t>
            </a:r>
            <a:endParaRPr lang="ur-PK" b="1" dirty="0">
              <a:latin typeface="Bahnschrift" panose="020B0502040204020203" pitchFamily="34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13620345" y="5998441"/>
            <a:ext cx="1468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ahnschrift" panose="020B0502040204020203" pitchFamily="34" charset="0"/>
              </a:rPr>
              <a:t>Concatenate</a:t>
            </a:r>
            <a:endParaRPr lang="ur-PK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1352425" y="-805486"/>
            <a:ext cx="117570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0" dirty="0" smtClean="0">
                <a:solidFill>
                  <a:srgbClr val="1F1F1F"/>
                </a:solidFill>
                <a:effectLst/>
                <a:latin typeface="Google Sans Text"/>
              </a:rPr>
              <a:t>PRIME-EV: Probabilistic Representation–Integrated Modeling</a:t>
            </a:r>
            <a:endParaRPr lang="ur-PK" sz="2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DFEFE"/>
              </a:clrFrom>
              <a:clrTo>
                <a:srgbClr val="FD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3652" r="51516" b="50325"/>
          <a:stretch/>
        </p:blipFill>
        <p:spPr>
          <a:xfrm>
            <a:off x="-3933679" y="7183330"/>
            <a:ext cx="3606250" cy="32150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8" name="Picture 87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DFEFE"/>
              </a:clrFrom>
              <a:clrTo>
                <a:srgbClr val="FD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81" t="3652" r="11569" b="50325"/>
          <a:stretch/>
        </p:blipFill>
        <p:spPr>
          <a:xfrm>
            <a:off x="3279003" y="7202467"/>
            <a:ext cx="3351330" cy="31018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0" name="Picture 89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DFEFE"/>
              </a:clrFrom>
              <a:clrTo>
                <a:srgbClr val="FD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51685" r="51516" b="5802"/>
          <a:stretch/>
        </p:blipFill>
        <p:spPr>
          <a:xfrm>
            <a:off x="9320524" y="7184004"/>
            <a:ext cx="3590683" cy="29569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1" name="Picture 90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DFEFE"/>
              </a:clrFrom>
              <a:clrTo>
                <a:srgbClr val="FD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60" t="51685" r="11805" b="5802"/>
          <a:stretch/>
        </p:blipFill>
        <p:spPr>
          <a:xfrm>
            <a:off x="14952990" y="7188893"/>
            <a:ext cx="3477985" cy="29569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2420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188</Words>
  <Application>Microsoft Office PowerPoint</Application>
  <PresentationFormat>Widescreen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Bahnschrift</vt:lpstr>
      <vt:lpstr>Calibri</vt:lpstr>
      <vt:lpstr>Calibri Light</vt:lpstr>
      <vt:lpstr>Google Sans Text</vt:lpstr>
      <vt:lpstr>Times New Roman</vt:lpstr>
      <vt:lpstr>Office Theme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Moorche</dc:creator>
  <cp:lastModifiedBy>Moorche</cp:lastModifiedBy>
  <cp:revision>35</cp:revision>
  <dcterms:created xsi:type="dcterms:W3CDTF">2026-01-05T20:41:37Z</dcterms:created>
  <dcterms:modified xsi:type="dcterms:W3CDTF">2026-01-09T19:09:14Z</dcterms:modified>
</cp:coreProperties>
</file>